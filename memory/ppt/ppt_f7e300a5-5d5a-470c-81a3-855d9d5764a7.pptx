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we're addressing a fundamental question about education: Are schools still serving their purpose in modern society, or have they become obsolete? We'll explore compelling arguments from both perspectives, examining the evidence on educational effectiveness, social impact, and preparation for contemporary careers. Our goal is to foster critical thinking about how we might better design learning environments for the future.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our exploration of the educational divide. We'll dive into the ongoing debate about school effectiveness, analyze opposing views of education as either waste of time or valuable opportunity, and work towards a balanced understanding that encourages critical thinking about our educational systems.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educational systems face significant challenges with curriculum relevance. Students are often taught outdated material that doesn't connect to modern careers or life demands. The heavy focus on memorization rather than practical application hinders creativity and real-world problem-solving abilities. Additionally, the intense pressure of standardized testing creates serious mental health concerns, while the neglect of essential life skills and emotional education leaves students ill-equipped for adulthood.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highlights the fundamental benefits of traditional schooling. We'll examine how schools provide core academic building blocks through literacy and numeracy instruction, while simultaneously developing crucial social skills through collaborative activities. The structured environment offers daily routines and professional guidance that support student success. Finally, we'll explore how diverse extracurricular opportunities help students discover their interests and potential career paths, creating a well-rounded educational experience that prepares them for future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 we conclude, let's emphasize that schools remain valuable institutions despite their challenges. The key is adaptation - we need schools to evolve continuously through collaboration between educators, parents, students, and policymakers. The ultimate success depends on both institutional improvements and individual student commitment to learning.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10.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b5926341-6d73-4a0a-9c28-da64abd3e6d9.png"/>
          <p:cNvPicPr>
            <a:picLocks noChangeAspect="1"/>
          </p:cNvPicPr>
          <p:nvPr/>
        </p:nvPicPr>
        <p:blipFill>
          <a:blip r:embed="rId3"/>
          <a:stretch>
            <a:fillRect/>
          </a:stretch>
        </p:blipFill>
        <p:spPr>
          <a:xfrm>
            <a:off x="7802909" y="0"/>
            <a:ext cx="4389090" cy="4953000"/>
          </a:xfrm>
          <a:prstGeom prst="rect">
            <a:avLst/>
          </a:prstGeom>
        </p:spPr>
      </p:pic>
      <p:sp>
        <p:nvSpPr>
          <p:cNvPr id="3" name="TextBox 2"/>
          <p:cNvSpPr txBox="1"/>
          <p:nvPr/>
        </p:nvSpPr>
        <p:spPr>
          <a:xfrm>
            <a:off x="457200" y="723900"/>
            <a:ext cx="6560046" cy="1919882"/>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spc="-120" i="0" sz="4800" b="0">
                <a:solidFill>
                  <a:srgbClr val="111827"/>
                </a:solidFill>
                <a:latin typeface="Albert Sans"/>
              </a:defRPr>
            </a:pPr>
            <a:r>
              <a:rPr i="0" sz="4800" b="0">
                <a:solidFill>
                  <a:srgbClr val="111827"/>
                </a:solidFill>
                <a:latin typeface="Albert Sans"/>
              </a:rPr>
              <a:t>Schools: A Waste of Time or an Indispensable Tool?</a:t>
            </a:r>
          </a:p>
        </p:txBody>
      </p:sp>
      <p:sp>
        <p:nvSpPr>
          <p:cNvPr id="4" name="TextBox 3"/>
          <p:cNvSpPr txBox="1"/>
          <p:nvPr/>
        </p:nvSpPr>
        <p:spPr>
          <a:xfrm>
            <a:off x="457200" y="2834282"/>
            <a:ext cx="5924550" cy="975121"/>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200" b="0">
                <a:solidFill>
                  <a:srgbClr val="6B7280"/>
                </a:solidFill>
                <a:latin typeface="Albert Sans"/>
              </a:defRPr>
            </a:pPr>
            <a:r>
              <a:rPr i="0" sz="1200" b="1">
                <a:solidFill>
                  <a:srgbClr val="6B7280"/>
                </a:solidFill>
                <a:latin typeface="Albert Sans"/>
              </a:rPr>
              <a:t>Delve into the critical debate</a:t>
            </a:r>
            <a:r>
              <a:rPr i="0" sz="1200" b="0">
                <a:solidFill>
                  <a:srgbClr val="6B7280"/>
                </a:solidFill>
                <a:latin typeface="Albert Sans"/>
              </a:rPr>
              <a:t> surrounding contemporary schooling systems. Examine whether traditional educational institutions remain vital for personal and societal development or if they need fundamental reform to meet modern challenges.</a:t>
            </a:r>
          </a:p>
        </p:txBody>
      </p:sp>
      <p:sp>
        <p:nvSpPr>
          <p:cNvPr id="5" name="Rounded Rectangle 4"/>
          <p:cNvSpPr/>
          <p:nvPr/>
        </p:nvSpPr>
        <p:spPr>
          <a:xfrm>
            <a:off x="457200" y="4038004"/>
            <a:ext cx="2416224" cy="476250"/>
          </a:xfrm>
          <a:prstGeom prst="roundRect">
            <a:avLst>
              <a:gd name="adj" fmla="val 4000"/>
            </a:avLst>
          </a:prstGeom>
          <a:solidFill>
            <a:srgbClr val="BFF4FF"/>
          </a:solidFill>
          <a:ln w="9525">
            <a:solidFill>
              <a:srgbClr val="BFF4FF"/>
            </a:solid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152400" rIns="152400" tIns="114300" bIns="114300"/>
          <a:lstStyle/>
          <a:p>
            <a:pPr algn="ctr"/>
          </a:p>
        </p:txBody>
      </p:sp>
      <p:sp>
        <p:nvSpPr>
          <p:cNvPr id="6" name="TextBox 5"/>
          <p:cNvSpPr txBox="1"/>
          <p:nvPr/>
        </p:nvSpPr>
        <p:spPr>
          <a:xfrm>
            <a:off x="847725" y="4161829"/>
            <a:ext cx="1014114" cy="2286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111827"/>
                </a:solidFill>
                <a:latin typeface="Albert Sans"/>
              </a:defRPr>
            </a:pPr>
            <a:r>
              <a:rPr i="0" sz="1200" b="0">
                <a:solidFill>
                  <a:srgbClr val="111827"/>
                </a:solidFill>
                <a:latin typeface="Albert Sans"/>
              </a:rPr>
              <a:t>Robustkaryaai</a:t>
            </a:r>
          </a:p>
        </p:txBody>
      </p:sp>
      <p:sp>
        <p:nvSpPr>
          <p:cNvPr id="7" name="TextBox 6"/>
          <p:cNvSpPr txBox="1"/>
          <p:nvPr/>
        </p:nvSpPr>
        <p:spPr>
          <a:xfrm>
            <a:off x="457200" y="6353175"/>
            <a:ext cx="1097309"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robustkaryaai.edu</a:t>
            </a:r>
          </a:p>
        </p:txBody>
      </p:sp>
      <p:sp>
        <p:nvSpPr>
          <p:cNvPr id="8" name="Rounded Rectangle 7"/>
          <p:cNvSpPr/>
          <p:nvPr/>
        </p:nvSpPr>
        <p:spPr>
          <a:xfrm>
            <a:off x="1764059" y="6443662"/>
            <a:ext cx="9970740" cy="19050"/>
          </a:xfrm>
          <a:prstGeom prst="roundRect">
            <a:avLst>
              <a:gd name="adj" fmla="val 100000"/>
            </a:avLst>
          </a:prstGeom>
          <a:solidFill>
            <a:srgbClr val="E5E7EB"/>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9" name="Rounded Rectangle 8"/>
          <p:cNvSpPr/>
          <p:nvPr/>
        </p:nvSpPr>
        <p:spPr>
          <a:xfrm rot="2700000">
            <a:off x="11595473" y="6223373"/>
            <a:ext cx="431052" cy="431052"/>
          </a:xfrm>
          <a:prstGeom prst="roundRect">
            <a:avLst>
              <a:gd name="adj" fmla="val 441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0" name="TextBox 9"/>
          <p:cNvSpPr txBox="1"/>
          <p:nvPr/>
        </p:nvSpPr>
        <p:spPr>
          <a:xfrm>
            <a:off x="1957089" y="4180879"/>
            <a:ext cx="773459"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2025-12-05</a:t>
            </a:r>
          </a:p>
        </p:txBody>
      </p:sp>
      <p:sp>
        <p:nvSpPr>
          <p:cNvPr id="11" name="Rectangle 10"/>
          <p:cNvSpPr/>
          <p:nvPr/>
        </p:nvSpPr>
        <p:spPr>
          <a:xfrm rot="2700000">
            <a:off x="433527" y="204927"/>
            <a:ext cx="161644" cy="161644"/>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2" name="Rounded Rectangle 11"/>
          <p:cNvSpPr/>
          <p:nvPr/>
        </p:nvSpPr>
        <p:spPr>
          <a:xfrm rot="2700000">
            <a:off x="7421157" y="509727"/>
            <a:ext cx="161643" cy="161644"/>
          </a:xfrm>
          <a:prstGeom prst="roundRect">
            <a:avLst>
              <a:gd name="adj" fmla="val 11785"/>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3" name="Rectangle 12"/>
          <p:cNvSpPr/>
          <p:nvPr/>
        </p:nvSpPr>
        <p:spPr>
          <a:xfrm rot="2700000">
            <a:off x="7421157" y="738327"/>
            <a:ext cx="161643" cy="161644"/>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4" name="Rectangle 13"/>
          <p:cNvSpPr/>
          <p:nvPr/>
        </p:nvSpPr>
        <p:spPr>
          <a:xfrm rot="2700000">
            <a:off x="7421157" y="281127"/>
            <a:ext cx="161643" cy="161644"/>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ounded Rectangle 14"/>
          <p:cNvSpPr/>
          <p:nvPr/>
        </p:nvSpPr>
        <p:spPr>
          <a:xfrm>
            <a:off x="619125" y="4161829"/>
            <a:ext cx="76200" cy="228600"/>
          </a:xfrm>
          <a:prstGeom prst="roundRect">
            <a:avLst>
              <a:gd name="adj" fmla="val 25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Navigating the Educational Divide</a:t>
            </a:r>
          </a:p>
        </p:txBody>
      </p:sp>
      <p:sp>
        <p:nvSpPr>
          <p:cNvPr id="3" name="TextBox 2"/>
          <p:cNvSpPr txBox="1"/>
          <p:nvPr/>
        </p:nvSpPr>
        <p:spPr>
          <a:xfrm>
            <a:off x="1126628" y="1379190"/>
            <a:ext cx="4740771"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Enduring Debate</a:t>
            </a:r>
          </a:p>
        </p:txBody>
      </p:sp>
      <p:sp>
        <p:nvSpPr>
          <p:cNvPr id="4" name="TextBox 3"/>
          <p:cNvSpPr txBox="1"/>
          <p:nvPr/>
        </p:nvSpPr>
        <p:spPr>
          <a:xfrm>
            <a:off x="7098803" y="1379190"/>
            <a:ext cx="4616946"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Two Perspectives</a:t>
            </a:r>
          </a:p>
        </p:txBody>
      </p:sp>
      <p:sp>
        <p:nvSpPr>
          <p:cNvPr id="5" name="TextBox 4"/>
          <p:cNvSpPr txBox="1"/>
          <p:nvPr/>
        </p:nvSpPr>
        <p:spPr>
          <a:xfrm>
            <a:off x="1251495" y="2348656"/>
            <a:ext cx="4615904"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Our Objective</a:t>
            </a:r>
          </a:p>
        </p:txBody>
      </p:sp>
      <p:sp>
        <p:nvSpPr>
          <p:cNvPr id="6" name="TextBox 5"/>
          <p:cNvSpPr txBox="1"/>
          <p:nvPr/>
        </p:nvSpPr>
        <p:spPr>
          <a:xfrm>
            <a:off x="7126337" y="2348656"/>
            <a:ext cx="4589412" cy="2513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96000"/>
              </a:lnSpc>
              <a:defRPr i="0" sz="1650" b="0">
                <a:solidFill>
                  <a:srgbClr val="111827"/>
                </a:solidFill>
                <a:latin typeface="Albert Sans"/>
              </a:defRPr>
            </a:pPr>
            <a:r>
              <a:rPr i="0" sz="1650" b="0">
                <a:solidFill>
                  <a:srgbClr val="111827"/>
                </a:solidFill>
                <a:latin typeface="Albert Sans"/>
              </a:rPr>
              <a:t>Roadmap</a:t>
            </a:r>
          </a:p>
        </p:txBody>
      </p:sp>
      <p:sp>
        <p:nvSpPr>
          <p:cNvPr id="7" name="TextBox 6"/>
          <p:cNvSpPr txBox="1"/>
          <p:nvPr/>
        </p:nvSpPr>
        <p:spPr>
          <a:xfrm>
            <a:off x="1126628" y="1706760"/>
            <a:ext cx="4740771"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Are schools truly beneficial in their current form?</a:t>
            </a:r>
          </a:p>
        </p:txBody>
      </p:sp>
      <p:sp>
        <p:nvSpPr>
          <p:cNvPr id="8" name="TextBox 7"/>
          <p:cNvSpPr txBox="1"/>
          <p:nvPr/>
        </p:nvSpPr>
        <p:spPr>
          <a:xfrm>
            <a:off x="7098803" y="1706760"/>
            <a:ext cx="4616946"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Examining 'Waste of Time' vs. 'Useful' viewpoints</a:t>
            </a:r>
          </a:p>
        </p:txBody>
      </p:sp>
      <p:sp>
        <p:nvSpPr>
          <p:cNvPr id="9" name="TextBox 8"/>
          <p:cNvSpPr txBox="1"/>
          <p:nvPr/>
        </p:nvSpPr>
        <p:spPr>
          <a:xfrm>
            <a:off x="1251495" y="2676227"/>
            <a:ext cx="4615904"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Present balanced analysis and foster critical thinking</a:t>
            </a:r>
          </a:p>
        </p:txBody>
      </p:sp>
      <p:sp>
        <p:nvSpPr>
          <p:cNvPr id="10" name="TextBox 9"/>
          <p:cNvSpPr txBox="1"/>
          <p:nvPr/>
        </p:nvSpPr>
        <p:spPr>
          <a:xfrm>
            <a:off x="7126337" y="2676227"/>
            <a:ext cx="4589412" cy="2132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8000"/>
              </a:lnSpc>
              <a:defRPr i="0" sz="1050" b="0">
                <a:solidFill>
                  <a:srgbClr val="6B7280"/>
                </a:solidFill>
                <a:latin typeface="Albert Sans"/>
              </a:defRPr>
            </a:pPr>
            <a:r>
              <a:rPr i="0" sz="1050" b="0">
                <a:solidFill>
                  <a:srgbClr val="6B7280"/>
                </a:solidFill>
                <a:latin typeface="Albert Sans"/>
              </a:rPr>
              <a:t>Arguments for/against, nuanced perspectives, and conclusion</a:t>
            </a:r>
          </a:p>
        </p:txBody>
      </p:sp>
      <p:sp>
        <p:nvSpPr>
          <p:cNvPr id="11" name="TextBox 10"/>
          <p:cNvSpPr txBox="1"/>
          <p:nvPr/>
        </p:nvSpPr>
        <p:spPr>
          <a:xfrm>
            <a:off x="457200" y="6353175"/>
            <a:ext cx="1779240"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www.educationaldebate.com</a:t>
            </a:r>
          </a:p>
        </p:txBody>
      </p:sp>
      <p:sp>
        <p:nvSpPr>
          <p:cNvPr id="12" name="TextBox 11"/>
          <p:cNvSpPr txBox="1"/>
          <p:nvPr/>
        </p:nvSpPr>
        <p:spPr>
          <a:xfrm>
            <a:off x="6305550" y="2310556"/>
            <a:ext cx="611237"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04</a:t>
            </a:r>
          </a:p>
        </p:txBody>
      </p:sp>
      <p:sp>
        <p:nvSpPr>
          <p:cNvPr id="13" name="TextBox 12"/>
          <p:cNvSpPr txBox="1"/>
          <p:nvPr/>
        </p:nvSpPr>
        <p:spPr>
          <a:xfrm>
            <a:off x="457200" y="2310556"/>
            <a:ext cx="584745"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03</a:t>
            </a:r>
          </a:p>
        </p:txBody>
      </p:sp>
      <p:sp>
        <p:nvSpPr>
          <p:cNvPr id="14" name="TextBox 13"/>
          <p:cNvSpPr txBox="1"/>
          <p:nvPr/>
        </p:nvSpPr>
        <p:spPr>
          <a:xfrm>
            <a:off x="6305550" y="1341090"/>
            <a:ext cx="583703"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02</a:t>
            </a:r>
          </a:p>
        </p:txBody>
      </p:sp>
      <p:sp>
        <p:nvSpPr>
          <p:cNvPr id="15" name="TextBox 14"/>
          <p:cNvSpPr txBox="1"/>
          <p:nvPr/>
        </p:nvSpPr>
        <p:spPr>
          <a:xfrm>
            <a:off x="457200" y="1341090"/>
            <a:ext cx="459878"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0000"/>
              </a:lnSpc>
              <a:defRPr i="0" sz="3600" b="0">
                <a:solidFill>
                  <a:srgbClr val="BFF4FF"/>
                </a:solidFill>
                <a:latin typeface="Albert Sans"/>
              </a:defRPr>
            </a:pPr>
            <a:r>
              <a:rPr i="0" sz="3600" b="0">
                <a:solidFill>
                  <a:srgbClr val="BFF4FF"/>
                </a:solidFill>
                <a:latin typeface="Albert Sans"/>
              </a:rPr>
              <a:t>01</a:t>
            </a:r>
          </a:p>
        </p:txBody>
      </p:sp>
      <p:sp>
        <p:nvSpPr>
          <p:cNvPr id="16" name="Rounded Rectangle 15"/>
          <p:cNvSpPr/>
          <p:nvPr/>
        </p:nvSpPr>
        <p:spPr>
          <a:xfrm rot="2700000">
            <a:off x="11595473" y="6223373"/>
            <a:ext cx="431052" cy="431052"/>
          </a:xfrm>
          <a:prstGeom prst="roundRect">
            <a:avLst>
              <a:gd name="adj" fmla="val 441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7" name="Rounded Rectangle 16"/>
          <p:cNvSpPr/>
          <p:nvPr/>
        </p:nvSpPr>
        <p:spPr>
          <a:xfrm>
            <a:off x="2445990" y="6443662"/>
            <a:ext cx="9288809" cy="19050"/>
          </a:xfrm>
          <a:prstGeom prst="roundRect">
            <a:avLst>
              <a:gd name="adj" fmla="val 1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8" name="Rounded Rectangle 17"/>
          <p:cNvSpPr/>
          <p:nvPr/>
        </p:nvSpPr>
        <p:spPr>
          <a:xfrm>
            <a:off x="457200" y="2072431"/>
            <a:ext cx="5391150" cy="9525"/>
          </a:xfrm>
          <a:prstGeom prst="roundRect">
            <a:avLst>
              <a:gd name="adj" fmla="val 200000"/>
            </a:avLst>
          </a:prstGeom>
          <a:solidFill>
            <a:srgbClr val="3B82F6">
              <a:alpha val="1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6305550" y="2072431"/>
            <a:ext cx="5391150" cy="9525"/>
          </a:xfrm>
          <a:prstGeom prst="roundRect">
            <a:avLst>
              <a:gd name="adj" fmla="val 200000"/>
            </a:avLst>
          </a:prstGeom>
          <a:solidFill>
            <a:srgbClr val="3B82F6">
              <a:alpha val="1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457200" y="3041898"/>
            <a:ext cx="5391150" cy="9525"/>
          </a:xfrm>
          <a:prstGeom prst="roundRect">
            <a:avLst>
              <a:gd name="adj" fmla="val 200000"/>
            </a:avLst>
          </a:prstGeom>
          <a:solidFill>
            <a:srgbClr val="3B82F6">
              <a:alpha val="1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ounded Rectangle 20"/>
          <p:cNvSpPr/>
          <p:nvPr/>
        </p:nvSpPr>
        <p:spPr>
          <a:xfrm>
            <a:off x="6305550" y="3041898"/>
            <a:ext cx="5391150" cy="9525"/>
          </a:xfrm>
          <a:prstGeom prst="roundRect">
            <a:avLst>
              <a:gd name="adj" fmla="val 200000"/>
            </a:avLst>
          </a:prstGeom>
          <a:solidFill>
            <a:srgbClr val="3B82F6">
              <a:alpha val="15000"/>
            </a:srgbClr>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ectangle 21"/>
          <p:cNvSpPr/>
          <p:nvPr/>
        </p:nvSpPr>
        <p:spPr>
          <a:xfrm rot="2700000">
            <a:off x="433527" y="204927"/>
            <a:ext cx="161644" cy="161644"/>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4572000"/>
            <a:ext cx="12192000" cy="1524000"/>
          </a:xfrm>
          <a:prstGeom prst="roundRect">
            <a:avLst>
              <a:gd name="adj" fmla="val 125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The Case Against: Irrelevant Curriculum</a:t>
            </a:r>
          </a:p>
        </p:txBody>
      </p:sp>
      <p:sp>
        <p:nvSpPr>
          <p:cNvPr id="4" name="Rounded Rectangle 3"/>
          <p:cNvSpPr/>
          <p:nvPr/>
        </p:nvSpPr>
        <p:spPr>
          <a:xfrm>
            <a:off x="8001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35052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62103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ounded Rectangle 6"/>
          <p:cNvSpPr/>
          <p:nvPr/>
        </p:nvSpPr>
        <p:spPr>
          <a:xfrm>
            <a:off x="89154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7200" y="1150590"/>
            <a:ext cx="7258050"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6B7280"/>
                </a:solidFill>
                <a:latin typeface="Albert Sans"/>
              </a:defRPr>
            </a:pPr>
            <a:r>
              <a:rPr i="0" sz="1200" b="0">
                <a:solidFill>
                  <a:srgbClr val="6B7280"/>
                </a:solidFill>
                <a:latin typeface="Albert Sans"/>
              </a:rPr>
              <a:t>Examining how outdated educational content, excessive testing, and neglect of practical skills negatively impact student learning and well-being.</a:t>
            </a:r>
          </a:p>
        </p:txBody>
      </p:sp>
      <p:sp>
        <p:nvSpPr>
          <p:cNvPr id="9" name="TextBox 8"/>
          <p:cNvSpPr txBox="1"/>
          <p:nvPr/>
        </p:nvSpPr>
        <p:spPr>
          <a:xfrm>
            <a:off x="10287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Curriculum content often lacks real-world applicability and fails to prepare students for future challenges.</a:t>
            </a:r>
          </a:p>
        </p:txBody>
      </p:sp>
      <p:sp>
        <p:nvSpPr>
          <p:cNvPr id="10" name="TextBox 9"/>
          <p:cNvSpPr txBox="1"/>
          <p:nvPr/>
        </p:nvSpPr>
        <p:spPr>
          <a:xfrm>
            <a:off x="37338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Traditional emphasis on memorization over developing critical problem-solving and creative thinking abilities.</a:t>
            </a:r>
          </a:p>
        </p:txBody>
      </p:sp>
      <p:sp>
        <p:nvSpPr>
          <p:cNvPr id="11" name="TextBox 10"/>
          <p:cNvSpPr txBox="1"/>
          <p:nvPr/>
        </p:nvSpPr>
        <p:spPr>
          <a:xfrm>
            <a:off x="64389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High-stakes testing environments create significant stress and anxiety among students of all ages.</a:t>
            </a:r>
          </a:p>
        </p:txBody>
      </p:sp>
      <p:sp>
        <p:nvSpPr>
          <p:cNvPr id="12" name="TextBox 11"/>
          <p:cNvSpPr txBox="1"/>
          <p:nvPr/>
        </p:nvSpPr>
        <p:spPr>
          <a:xfrm>
            <a:off x="91440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Educational systems provide insufficient focus on practical life skills and emotional development.</a:t>
            </a:r>
          </a:p>
        </p:txBody>
      </p:sp>
      <p:sp>
        <p:nvSpPr>
          <p:cNvPr id="13" name="TextBox 12"/>
          <p:cNvSpPr txBox="1"/>
          <p:nvPr/>
        </p:nvSpPr>
        <p:spPr>
          <a:xfrm>
            <a:off x="10287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Outdated Topics</a:t>
            </a:r>
          </a:p>
        </p:txBody>
      </p:sp>
      <p:sp>
        <p:nvSpPr>
          <p:cNvPr id="14" name="TextBox 13"/>
          <p:cNvSpPr txBox="1"/>
          <p:nvPr/>
        </p:nvSpPr>
        <p:spPr>
          <a:xfrm>
            <a:off x="37338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Rote Learning Focus</a:t>
            </a:r>
          </a:p>
        </p:txBody>
      </p:sp>
      <p:sp>
        <p:nvSpPr>
          <p:cNvPr id="15" name="TextBox 14"/>
          <p:cNvSpPr txBox="1"/>
          <p:nvPr/>
        </p:nvSpPr>
        <p:spPr>
          <a:xfrm>
            <a:off x="64389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Academic Pressure</a:t>
            </a:r>
          </a:p>
        </p:txBody>
      </p:sp>
      <p:sp>
        <p:nvSpPr>
          <p:cNvPr id="16" name="TextBox 15"/>
          <p:cNvSpPr txBox="1"/>
          <p:nvPr/>
        </p:nvSpPr>
        <p:spPr>
          <a:xfrm>
            <a:off x="91440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Life Skills Gap</a:t>
            </a:r>
          </a:p>
        </p:txBody>
      </p:sp>
      <p:sp>
        <p:nvSpPr>
          <p:cNvPr id="17" name="TextBox 16"/>
          <p:cNvSpPr txBox="1"/>
          <p:nvPr/>
        </p:nvSpPr>
        <p:spPr>
          <a:xfrm>
            <a:off x="457200" y="6353175"/>
            <a:ext cx="1273075"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educationreform.org</a:t>
            </a:r>
          </a:p>
        </p:txBody>
      </p:sp>
      <p:sp>
        <p:nvSpPr>
          <p:cNvPr id="18" name="Rounded Rectangle 17"/>
          <p:cNvSpPr/>
          <p:nvPr/>
        </p:nvSpPr>
        <p:spPr>
          <a:xfrm>
            <a:off x="1939825" y="6443662"/>
            <a:ext cx="9794974" cy="19050"/>
          </a:xfrm>
          <a:prstGeom prst="roundRect">
            <a:avLst>
              <a:gd name="adj" fmla="val 1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rot="2700000">
            <a:off x="11595473" y="6223373"/>
            <a:ext cx="431052" cy="431052"/>
          </a:xfrm>
          <a:prstGeom prst="roundRect">
            <a:avLst>
              <a:gd name="adj" fmla="val 441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10287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ounded Rectangle 20"/>
          <p:cNvSpPr/>
          <p:nvPr/>
        </p:nvSpPr>
        <p:spPr>
          <a:xfrm>
            <a:off x="37338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ounded Rectangle 21"/>
          <p:cNvSpPr/>
          <p:nvPr/>
        </p:nvSpPr>
        <p:spPr>
          <a:xfrm>
            <a:off x="64389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Rounded Rectangle 22"/>
          <p:cNvSpPr/>
          <p:nvPr/>
        </p:nvSpPr>
        <p:spPr>
          <a:xfrm>
            <a:off x="91440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4" name="Picture 23" descr="f9f8381e-50d8-4feb-908d-be00bde10103.png"/>
          <p:cNvPicPr>
            <a:picLocks noChangeAspect="1"/>
          </p:cNvPicPr>
          <p:nvPr/>
        </p:nvPicPr>
        <p:blipFill>
          <a:blip r:embed="rId3"/>
          <a:stretch>
            <a:fillRect/>
          </a:stretch>
        </p:blipFill>
        <p:spPr>
          <a:xfrm>
            <a:off x="1104900" y="2184052"/>
            <a:ext cx="228600" cy="228600"/>
          </a:xfrm>
          <a:prstGeom prst="rect">
            <a:avLst/>
          </a:prstGeom>
        </p:spPr>
      </p:pic>
      <p:pic>
        <p:nvPicPr>
          <p:cNvPr id="25" name="Picture 24" descr="bd2afd5a-f9d3-43a0-8663-95785cef1d29.png"/>
          <p:cNvPicPr>
            <a:picLocks noChangeAspect="1"/>
          </p:cNvPicPr>
          <p:nvPr/>
        </p:nvPicPr>
        <p:blipFill>
          <a:blip r:embed="rId4"/>
          <a:stretch>
            <a:fillRect/>
          </a:stretch>
        </p:blipFill>
        <p:spPr>
          <a:xfrm>
            <a:off x="3810000" y="2184052"/>
            <a:ext cx="228600" cy="228600"/>
          </a:xfrm>
          <a:prstGeom prst="rect">
            <a:avLst/>
          </a:prstGeom>
        </p:spPr>
      </p:pic>
      <p:pic>
        <p:nvPicPr>
          <p:cNvPr id="26" name="Picture 25" descr="5e504e1f-5f2a-4758-bd08-6719dfd7b127.png"/>
          <p:cNvPicPr>
            <a:picLocks noChangeAspect="1"/>
          </p:cNvPicPr>
          <p:nvPr/>
        </p:nvPicPr>
        <p:blipFill>
          <a:blip r:embed="rId5"/>
          <a:stretch>
            <a:fillRect/>
          </a:stretch>
        </p:blipFill>
        <p:spPr>
          <a:xfrm>
            <a:off x="6515100" y="2184052"/>
            <a:ext cx="228600" cy="228600"/>
          </a:xfrm>
          <a:prstGeom prst="rect">
            <a:avLst/>
          </a:prstGeom>
        </p:spPr>
      </p:pic>
      <p:pic>
        <p:nvPicPr>
          <p:cNvPr id="27" name="Picture 26" descr="5fb252ea-b846-4adf-a54e-93fa774d542f.png"/>
          <p:cNvPicPr>
            <a:picLocks noChangeAspect="1"/>
          </p:cNvPicPr>
          <p:nvPr/>
        </p:nvPicPr>
        <p:blipFill>
          <a:blip r:embed="rId6"/>
          <a:stretch>
            <a:fillRect/>
          </a:stretch>
        </p:blipFill>
        <p:spPr>
          <a:xfrm>
            <a:off x="9220200" y="2184052"/>
            <a:ext cx="228600" cy="228600"/>
          </a:xfrm>
          <a:prstGeom prst="rect">
            <a:avLst/>
          </a:prstGeom>
        </p:spPr>
      </p:pic>
      <p:sp>
        <p:nvSpPr>
          <p:cNvPr id="28" name="Rectangle 27"/>
          <p:cNvSpPr/>
          <p:nvPr/>
        </p:nvSpPr>
        <p:spPr>
          <a:xfrm rot="2700000">
            <a:off x="433527" y="204928"/>
            <a:ext cx="161644" cy="161643"/>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0" y="4572000"/>
            <a:ext cx="12192000" cy="1524000"/>
          </a:xfrm>
          <a:prstGeom prst="roundRect">
            <a:avLst>
              <a:gd name="adj" fmla="val 1250"/>
            </a:avLst>
          </a:prstGeom>
          <a:solidFill>
            <a:srgbClr val="BFF4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3" name="TextBox 2"/>
          <p:cNvSpPr txBox="1"/>
          <p:nvPr/>
        </p:nvSpPr>
        <p:spPr>
          <a:xfrm>
            <a:off x="457200" y="533400"/>
            <a:ext cx="11296650" cy="50289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8000"/>
              </a:lnSpc>
              <a:defRPr i="0" sz="3600" b="0">
                <a:solidFill>
                  <a:srgbClr val="111827"/>
                </a:solidFill>
                <a:latin typeface="Albert Sans"/>
              </a:defRPr>
            </a:pPr>
            <a:r>
              <a:rPr i="0" sz="3600" b="0">
                <a:solidFill>
                  <a:srgbClr val="111827"/>
                </a:solidFill>
                <a:latin typeface="Albert Sans"/>
              </a:rPr>
              <a:t>The Case For: Foundational Knowledge</a:t>
            </a:r>
          </a:p>
        </p:txBody>
      </p:sp>
      <p:sp>
        <p:nvSpPr>
          <p:cNvPr id="4" name="Rounded Rectangle 3"/>
          <p:cNvSpPr/>
          <p:nvPr/>
        </p:nvSpPr>
        <p:spPr>
          <a:xfrm>
            <a:off x="8001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5" name="Rounded Rectangle 4"/>
          <p:cNvSpPr/>
          <p:nvPr/>
        </p:nvSpPr>
        <p:spPr>
          <a:xfrm>
            <a:off x="35052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6" name="Rounded Rectangle 5"/>
          <p:cNvSpPr/>
          <p:nvPr/>
        </p:nvSpPr>
        <p:spPr>
          <a:xfrm>
            <a:off x="62103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7" name="Rounded Rectangle 6"/>
          <p:cNvSpPr/>
          <p:nvPr/>
        </p:nvSpPr>
        <p:spPr>
          <a:xfrm>
            <a:off x="8915400" y="1912590"/>
            <a:ext cx="2476500" cy="2192535"/>
          </a:xfrm>
          <a:prstGeom prst="roundRect">
            <a:avLst>
              <a:gd name="adj" fmla="val 9557"/>
            </a:avLst>
          </a:prstGeom>
          <a:solidFill>
            <a:srgbClr val="BFF4FF"/>
          </a:solidFill>
          <a:ln>
            <a:noFill/>
          </a:ln>
          <a:effectLst>
            <a:outerShdw blurRad="381000" dir="5400000" dist="152400" rotWithShape="0">
              <a:srgbClr val="000000">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8" name="TextBox 7"/>
          <p:cNvSpPr txBox="1"/>
          <p:nvPr/>
        </p:nvSpPr>
        <p:spPr>
          <a:xfrm>
            <a:off x="457200" y="1150590"/>
            <a:ext cx="7258050" cy="4572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200" b="0">
                <a:solidFill>
                  <a:srgbClr val="6B7280"/>
                </a:solidFill>
                <a:latin typeface="Albert Sans"/>
              </a:defRPr>
            </a:pPr>
            <a:r>
              <a:rPr i="0" sz="1200" b="0">
                <a:solidFill>
                  <a:srgbClr val="6B7280"/>
                </a:solidFill>
                <a:latin typeface="Albert Sans"/>
              </a:rPr>
              <a:t>Schools provide essential literacy, numeracy, and broad subject knowledge while fostering crucial social skills and exposing students to diverse opportunities for personal growth.</a:t>
            </a:r>
          </a:p>
        </p:txBody>
      </p:sp>
      <p:sp>
        <p:nvSpPr>
          <p:cNvPr id="9" name="TextBox 8"/>
          <p:cNvSpPr txBox="1"/>
          <p:nvPr/>
        </p:nvSpPr>
        <p:spPr>
          <a:xfrm>
            <a:off x="10287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Essential literacy, numeracy, and comprehensive subject knowledge form the educational foundation for all students.</a:t>
            </a:r>
          </a:p>
        </p:txBody>
      </p:sp>
      <p:sp>
        <p:nvSpPr>
          <p:cNvPr id="10" name="TextBox 9"/>
          <p:cNvSpPr txBox="1"/>
          <p:nvPr/>
        </p:nvSpPr>
        <p:spPr>
          <a:xfrm>
            <a:off x="37338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Collaboration, communication, and teamwork develop through structured group activities and peer interactions.</a:t>
            </a:r>
          </a:p>
        </p:txBody>
      </p:sp>
      <p:sp>
        <p:nvSpPr>
          <p:cNvPr id="11" name="TextBox 10"/>
          <p:cNvSpPr txBox="1"/>
          <p:nvPr/>
        </p:nvSpPr>
        <p:spPr>
          <a:xfrm>
            <a:off x="64389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Daily routines, accountability systems, and access to expert guidance create optimal learning environments.</a:t>
            </a:r>
          </a:p>
        </p:txBody>
      </p:sp>
      <p:sp>
        <p:nvSpPr>
          <p:cNvPr id="12" name="TextBox 11"/>
          <p:cNvSpPr txBox="1"/>
          <p:nvPr/>
        </p:nvSpPr>
        <p:spPr>
          <a:xfrm>
            <a:off x="9144000" y="3007965"/>
            <a:ext cx="2038350" cy="90666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36000"/>
              </a:lnSpc>
              <a:defRPr i="0" sz="1050" b="0">
                <a:solidFill>
                  <a:srgbClr val="6B7280"/>
                </a:solidFill>
                <a:latin typeface="Albert Sans"/>
              </a:defRPr>
            </a:pPr>
            <a:r>
              <a:rPr i="0" sz="1050" b="0">
                <a:solidFill>
                  <a:srgbClr val="6B7280"/>
                </a:solidFill>
                <a:latin typeface="Albert Sans"/>
              </a:rPr>
              <a:t>Diverse extracurricular activities and career path discovery help students identify their passions and potential.</a:t>
            </a:r>
          </a:p>
        </p:txBody>
      </p:sp>
      <p:sp>
        <p:nvSpPr>
          <p:cNvPr id="13" name="TextBox 12"/>
          <p:cNvSpPr txBox="1"/>
          <p:nvPr/>
        </p:nvSpPr>
        <p:spPr>
          <a:xfrm>
            <a:off x="10287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Core Academics</a:t>
            </a:r>
          </a:p>
        </p:txBody>
      </p:sp>
      <p:sp>
        <p:nvSpPr>
          <p:cNvPr id="14" name="TextBox 13"/>
          <p:cNvSpPr txBox="1"/>
          <p:nvPr/>
        </p:nvSpPr>
        <p:spPr>
          <a:xfrm>
            <a:off x="37338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Social Skills</a:t>
            </a:r>
          </a:p>
        </p:txBody>
      </p:sp>
      <p:sp>
        <p:nvSpPr>
          <p:cNvPr id="15" name="TextBox 14"/>
          <p:cNvSpPr txBox="1"/>
          <p:nvPr/>
        </p:nvSpPr>
        <p:spPr>
          <a:xfrm>
            <a:off x="64389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Structure </a:t>
            </a:r>
            <a:r>
              <a:rPr i="0" sz="1350" b="0">
                <a:solidFill>
                  <a:srgbClr val="111827"/>
                </a:solidFill>
                <a:latin typeface="Albert Sans"/>
              </a:rPr>
              <a:t>&amp;</a:t>
            </a:r>
            <a:r>
              <a:rPr i="0" sz="1350" b="0">
                <a:solidFill>
                  <a:srgbClr val="111827"/>
                </a:solidFill>
                <a:latin typeface="Albert Sans"/>
              </a:rPr>
              <a:t> Support</a:t>
            </a:r>
          </a:p>
        </p:txBody>
      </p:sp>
      <p:sp>
        <p:nvSpPr>
          <p:cNvPr id="16" name="TextBox 15"/>
          <p:cNvSpPr txBox="1"/>
          <p:nvPr/>
        </p:nvSpPr>
        <p:spPr>
          <a:xfrm>
            <a:off x="9144000" y="2636490"/>
            <a:ext cx="2038350" cy="25717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350" b="0">
                <a:solidFill>
                  <a:srgbClr val="111827"/>
                </a:solidFill>
                <a:latin typeface="Albert Sans"/>
              </a:defRPr>
            </a:pPr>
            <a:r>
              <a:rPr i="0" sz="1350" b="0">
                <a:solidFill>
                  <a:srgbClr val="111827"/>
                </a:solidFill>
                <a:latin typeface="Albert Sans"/>
              </a:rPr>
              <a:t>Exposure </a:t>
            </a:r>
            <a:r>
              <a:rPr i="0" sz="1350" b="0">
                <a:solidFill>
                  <a:srgbClr val="111827"/>
                </a:solidFill>
                <a:latin typeface="Albert Sans"/>
              </a:rPr>
              <a:t>&amp;</a:t>
            </a:r>
            <a:r>
              <a:rPr i="0" sz="1350" b="0">
                <a:solidFill>
                  <a:srgbClr val="111827"/>
                </a:solidFill>
                <a:latin typeface="Albert Sans"/>
              </a:rPr>
              <a:t> Exploration</a:t>
            </a:r>
          </a:p>
        </p:txBody>
      </p:sp>
      <p:sp>
        <p:nvSpPr>
          <p:cNvPr id="17" name="TextBox 16"/>
          <p:cNvSpPr txBox="1"/>
          <p:nvPr/>
        </p:nvSpPr>
        <p:spPr>
          <a:xfrm>
            <a:off x="457200" y="6353175"/>
            <a:ext cx="1589633"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education-foundation.org</a:t>
            </a:r>
          </a:p>
        </p:txBody>
      </p:sp>
      <p:sp>
        <p:nvSpPr>
          <p:cNvPr id="18" name="Rounded Rectangle 17"/>
          <p:cNvSpPr/>
          <p:nvPr/>
        </p:nvSpPr>
        <p:spPr>
          <a:xfrm rot="2700000">
            <a:off x="11595473" y="6223373"/>
            <a:ext cx="431052" cy="431052"/>
          </a:xfrm>
          <a:prstGeom prst="roundRect">
            <a:avLst>
              <a:gd name="adj" fmla="val 441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9" name="Rounded Rectangle 18"/>
          <p:cNvSpPr/>
          <p:nvPr/>
        </p:nvSpPr>
        <p:spPr>
          <a:xfrm>
            <a:off x="2256383" y="6443662"/>
            <a:ext cx="9478416" cy="19050"/>
          </a:xfrm>
          <a:prstGeom prst="roundRect">
            <a:avLst>
              <a:gd name="adj" fmla="val 1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0" name="Rounded Rectangle 19"/>
          <p:cNvSpPr/>
          <p:nvPr/>
        </p:nvSpPr>
        <p:spPr>
          <a:xfrm>
            <a:off x="10287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1" name="Rounded Rectangle 20"/>
          <p:cNvSpPr/>
          <p:nvPr/>
        </p:nvSpPr>
        <p:spPr>
          <a:xfrm>
            <a:off x="37338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2" name="Rounded Rectangle 21"/>
          <p:cNvSpPr/>
          <p:nvPr/>
        </p:nvSpPr>
        <p:spPr>
          <a:xfrm>
            <a:off x="64389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23" name="Rounded Rectangle 22"/>
          <p:cNvSpPr/>
          <p:nvPr/>
        </p:nvSpPr>
        <p:spPr>
          <a:xfrm>
            <a:off x="9144000" y="2103090"/>
            <a:ext cx="381000" cy="381000"/>
          </a:xfrm>
          <a:prstGeom prst="roundRect">
            <a:avLst>
              <a:gd name="adj" fmla="val 5000"/>
            </a:avLst>
          </a:prstGeom>
          <a:solidFill>
            <a:srgbClr val="FFFFFF"/>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pic>
        <p:nvPicPr>
          <p:cNvPr id="24" name="Picture 23" descr="7b3f4aeb-678f-4531-9000-f469f7b7c1a1.png"/>
          <p:cNvPicPr>
            <a:picLocks noChangeAspect="1"/>
          </p:cNvPicPr>
          <p:nvPr/>
        </p:nvPicPr>
        <p:blipFill>
          <a:blip r:embed="rId3"/>
          <a:stretch>
            <a:fillRect/>
          </a:stretch>
        </p:blipFill>
        <p:spPr>
          <a:xfrm>
            <a:off x="1104900" y="2184052"/>
            <a:ext cx="228600" cy="228600"/>
          </a:xfrm>
          <a:prstGeom prst="rect">
            <a:avLst/>
          </a:prstGeom>
        </p:spPr>
      </p:pic>
      <p:pic>
        <p:nvPicPr>
          <p:cNvPr id="25" name="Picture 24" descr="b396e0bf-06f8-4c33-ae47-ec988953074c.png"/>
          <p:cNvPicPr>
            <a:picLocks noChangeAspect="1"/>
          </p:cNvPicPr>
          <p:nvPr/>
        </p:nvPicPr>
        <p:blipFill>
          <a:blip r:embed="rId4"/>
          <a:stretch>
            <a:fillRect/>
          </a:stretch>
        </p:blipFill>
        <p:spPr>
          <a:xfrm>
            <a:off x="3810000" y="2184052"/>
            <a:ext cx="228600" cy="228600"/>
          </a:xfrm>
          <a:prstGeom prst="rect">
            <a:avLst/>
          </a:prstGeom>
        </p:spPr>
      </p:pic>
      <p:pic>
        <p:nvPicPr>
          <p:cNvPr id="26" name="Picture 25" descr="9e30009f-0abb-40da-aaaa-f93d35608e98.png"/>
          <p:cNvPicPr>
            <a:picLocks noChangeAspect="1"/>
          </p:cNvPicPr>
          <p:nvPr/>
        </p:nvPicPr>
        <p:blipFill>
          <a:blip r:embed="rId5"/>
          <a:stretch>
            <a:fillRect/>
          </a:stretch>
        </p:blipFill>
        <p:spPr>
          <a:xfrm>
            <a:off x="6515100" y="2184052"/>
            <a:ext cx="228600" cy="228600"/>
          </a:xfrm>
          <a:prstGeom prst="rect">
            <a:avLst/>
          </a:prstGeom>
        </p:spPr>
      </p:pic>
      <p:pic>
        <p:nvPicPr>
          <p:cNvPr id="27" name="Picture 26" descr="504718c2-a22a-41cc-8f97-bbfa3fa426d3.png"/>
          <p:cNvPicPr>
            <a:picLocks noChangeAspect="1"/>
          </p:cNvPicPr>
          <p:nvPr/>
        </p:nvPicPr>
        <p:blipFill>
          <a:blip r:embed="rId6"/>
          <a:stretch>
            <a:fillRect/>
          </a:stretch>
        </p:blipFill>
        <p:spPr>
          <a:xfrm>
            <a:off x="9220200" y="2184052"/>
            <a:ext cx="228600" cy="228600"/>
          </a:xfrm>
          <a:prstGeom prst="rect">
            <a:avLst/>
          </a:prstGeom>
        </p:spPr>
      </p:pic>
      <p:sp>
        <p:nvSpPr>
          <p:cNvPr id="28" name="Rectangle 27"/>
          <p:cNvSpPr/>
          <p:nvPr/>
        </p:nvSpPr>
        <p:spPr>
          <a:xfrm rot="2700000">
            <a:off x="433527" y="204927"/>
            <a:ext cx="161644" cy="161645"/>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453fba7d-1ebb-4239-b1e4-5f21ca678df9.png"/>
          <p:cNvPicPr>
            <a:picLocks noChangeAspect="1"/>
          </p:cNvPicPr>
          <p:nvPr/>
        </p:nvPicPr>
        <p:blipFill>
          <a:blip r:embed="rId3"/>
          <a:stretch>
            <a:fillRect/>
          </a:stretch>
        </p:blipFill>
        <p:spPr>
          <a:xfrm>
            <a:off x="1809750" y="3048000"/>
            <a:ext cx="8572500" cy="2476500"/>
          </a:xfrm>
          <a:prstGeom prst="rect">
            <a:avLst/>
          </a:prstGeom>
        </p:spPr>
      </p:pic>
      <p:sp>
        <p:nvSpPr>
          <p:cNvPr id="3" name="TextBox 2"/>
          <p:cNvSpPr txBox="1"/>
          <p:nvPr/>
        </p:nvSpPr>
        <p:spPr>
          <a:xfrm>
            <a:off x="457200" y="571500"/>
            <a:ext cx="5432226" cy="11200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84000"/>
              </a:lnSpc>
              <a:defRPr i="0" sz="4200" b="0">
                <a:solidFill>
                  <a:srgbClr val="111827"/>
                </a:solidFill>
                <a:latin typeface="Albert Sans"/>
              </a:defRPr>
            </a:pPr>
            <a:r>
              <a:rPr i="0" sz="4200" b="0">
                <a:solidFill>
                  <a:srgbClr val="111827"/>
                </a:solidFill>
                <a:latin typeface="Albert Sans"/>
              </a:rPr>
              <a:t>Conclusion: A Balanced Perspective</a:t>
            </a:r>
          </a:p>
        </p:txBody>
      </p:sp>
      <p:sp>
        <p:nvSpPr>
          <p:cNvPr id="4" name="TextBox 3"/>
          <p:cNvSpPr txBox="1"/>
          <p:nvPr/>
        </p:nvSpPr>
        <p:spPr>
          <a:xfrm>
            <a:off x="457200" y="2072580"/>
            <a:ext cx="4972050" cy="82287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The schools hold significant value in education while facing valid challenges that require continuous improvement and stakeholder collaboration.</a:t>
            </a:r>
          </a:p>
        </p:txBody>
      </p:sp>
      <p:sp>
        <p:nvSpPr>
          <p:cNvPr id="5" name="TextBox 4"/>
          <p:cNvSpPr txBox="1"/>
          <p:nvPr/>
        </p:nvSpPr>
        <p:spPr>
          <a:xfrm>
            <a:off x="6251376" y="1028700"/>
            <a:ext cx="5883324"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Schools provide essential </a:t>
            </a:r>
            <a:r>
              <a:rPr i="0" sz="1200" b="1">
                <a:solidFill>
                  <a:srgbClr val="6B7280"/>
                </a:solidFill>
                <a:latin typeface="Albert Sans"/>
              </a:rPr>
              <a:t>foundational knowledge</a:t>
            </a:r>
            <a:r>
              <a:rPr i="0" sz="1200" b="0">
                <a:solidFill>
                  <a:srgbClr val="6B7280"/>
                </a:solidFill>
                <a:latin typeface="Albert Sans"/>
              </a:rPr>
              <a:t> and crucial </a:t>
            </a:r>
            <a:r>
              <a:rPr i="0" sz="1200" b="1">
                <a:solidFill>
                  <a:srgbClr val="6B7280"/>
                </a:solidFill>
                <a:latin typeface="Albert Sans"/>
              </a:rPr>
              <a:t>social development</a:t>
            </a:r>
            <a:r>
              <a:rPr i="0" sz="1200" b="0">
                <a:solidFill>
                  <a:srgbClr val="6B7280"/>
                </a:solidFill>
                <a:latin typeface="Albert Sans"/>
              </a:rPr>
              <a:t> opportunities for students.</a:t>
            </a:r>
          </a:p>
        </p:txBody>
      </p:sp>
      <p:sp>
        <p:nvSpPr>
          <p:cNvPr id="6" name="TextBox 5"/>
          <p:cNvSpPr txBox="1"/>
          <p:nvPr/>
        </p:nvSpPr>
        <p:spPr>
          <a:xfrm>
            <a:off x="6251376" y="2263080"/>
            <a:ext cx="5883324"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Issues persist with </a:t>
            </a:r>
            <a:r>
              <a:rPr i="0" sz="1200" b="1">
                <a:solidFill>
                  <a:srgbClr val="6B7280"/>
                </a:solidFill>
                <a:latin typeface="Albert Sans"/>
              </a:rPr>
              <a:t>curriculum relevance</a:t>
            </a:r>
            <a:r>
              <a:rPr i="0" sz="1200" b="0">
                <a:solidFill>
                  <a:srgbClr val="6B7280"/>
                </a:solidFill>
                <a:latin typeface="Albert Sans"/>
              </a:rPr>
              <a:t>, </a:t>
            </a:r>
            <a:r>
              <a:rPr i="0" sz="1200" b="1">
                <a:solidFill>
                  <a:srgbClr val="6B7280"/>
                </a:solidFill>
                <a:latin typeface="Albert Sans"/>
              </a:rPr>
              <a:t>practical application</a:t>
            </a:r>
            <a:r>
              <a:rPr i="0" sz="1200" b="0">
                <a:solidFill>
                  <a:srgbClr val="6B7280"/>
                </a:solidFill>
                <a:latin typeface="Albert Sans"/>
              </a:rPr>
              <a:t>, and maintaining student </a:t>
            </a:r>
            <a:r>
              <a:rPr i="0" sz="1200" b="1">
                <a:solidFill>
                  <a:srgbClr val="6B7280"/>
                </a:solidFill>
                <a:latin typeface="Albert Sans"/>
              </a:rPr>
              <a:t>well-being</a:t>
            </a:r>
            <a:r>
              <a:rPr i="0" sz="1200" b="0">
                <a:solidFill>
                  <a:srgbClr val="6B7280"/>
                </a:solidFill>
                <a:latin typeface="Albert Sans"/>
              </a:rPr>
              <a:t>.</a:t>
            </a:r>
          </a:p>
        </p:txBody>
      </p:sp>
      <p:sp>
        <p:nvSpPr>
          <p:cNvPr id="7" name="TextBox 6"/>
          <p:cNvSpPr txBox="1"/>
          <p:nvPr/>
        </p:nvSpPr>
        <p:spPr>
          <a:xfrm>
            <a:off x="6251376" y="3497460"/>
            <a:ext cx="5883324"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1">
                <a:solidFill>
                  <a:srgbClr val="6B7280"/>
                </a:solidFill>
                <a:latin typeface="Albert Sans"/>
              </a:rPr>
              <a:t>Continuous adaptation</a:t>
            </a:r>
            <a:r>
              <a:rPr i="0" sz="1200" b="0">
                <a:solidFill>
                  <a:srgbClr val="6B7280"/>
                </a:solidFill>
                <a:latin typeface="Albert Sans"/>
              </a:rPr>
              <a:t> and </a:t>
            </a:r>
            <a:r>
              <a:rPr i="0" sz="1200" b="1">
                <a:solidFill>
                  <a:srgbClr val="6B7280"/>
                </a:solidFill>
                <a:latin typeface="Albert Sans"/>
              </a:rPr>
              <a:t>collaboration</a:t>
            </a:r>
            <a:r>
              <a:rPr i="0" sz="1200" b="0">
                <a:solidFill>
                  <a:srgbClr val="6B7280"/>
                </a:solidFill>
                <a:latin typeface="Albert Sans"/>
              </a:rPr>
              <a:t> among all stakeholders address educational shortcomings.</a:t>
            </a:r>
          </a:p>
        </p:txBody>
      </p:sp>
      <p:sp>
        <p:nvSpPr>
          <p:cNvPr id="8" name="TextBox 7"/>
          <p:cNvSpPr txBox="1"/>
          <p:nvPr/>
        </p:nvSpPr>
        <p:spPr>
          <a:xfrm>
            <a:off x="6251376" y="4731841"/>
            <a:ext cx="5883324" cy="54858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44000"/>
              </a:lnSpc>
              <a:defRPr i="0" sz="1200" b="0">
                <a:solidFill>
                  <a:srgbClr val="6B7280"/>
                </a:solidFill>
                <a:latin typeface="Albert Sans"/>
              </a:defRPr>
            </a:pPr>
            <a:r>
              <a:rPr i="0" sz="1200" b="0">
                <a:solidFill>
                  <a:srgbClr val="6B7280"/>
                </a:solidFill>
                <a:latin typeface="Albert Sans"/>
              </a:rPr>
              <a:t>Educational value emerges from both </a:t>
            </a:r>
            <a:r>
              <a:rPr i="0" sz="1200" b="1">
                <a:solidFill>
                  <a:srgbClr val="6B7280"/>
                </a:solidFill>
                <a:latin typeface="Albert Sans"/>
              </a:rPr>
              <a:t>institutional effort</a:t>
            </a:r>
            <a:r>
              <a:rPr i="0" sz="1200" b="0">
                <a:solidFill>
                  <a:srgbClr val="6B7280"/>
                </a:solidFill>
                <a:latin typeface="Albert Sans"/>
              </a:rPr>
              <a:t> and individual </a:t>
            </a:r>
            <a:r>
              <a:rPr i="0" sz="1200" b="1">
                <a:solidFill>
                  <a:srgbClr val="6B7280"/>
                </a:solidFill>
                <a:latin typeface="Albert Sans"/>
              </a:rPr>
              <a:t>student engagement</a:t>
            </a:r>
            <a:r>
              <a:rPr i="0" sz="1200" b="0">
                <a:solidFill>
                  <a:srgbClr val="6B7280"/>
                </a:solidFill>
                <a:latin typeface="Albert Sans"/>
              </a:rPr>
              <a:t>.</a:t>
            </a:r>
          </a:p>
        </p:txBody>
      </p:sp>
      <p:sp>
        <p:nvSpPr>
          <p:cNvPr id="9" name="TextBox 8"/>
          <p:cNvSpPr txBox="1"/>
          <p:nvPr/>
        </p:nvSpPr>
        <p:spPr>
          <a:xfrm>
            <a:off x="6251376" y="571500"/>
            <a:ext cx="5883324"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800" b="0">
                <a:solidFill>
                  <a:srgbClr val="111827"/>
                </a:solidFill>
                <a:latin typeface="Albert Sans"/>
              </a:defRPr>
            </a:pPr>
            <a:r>
              <a:rPr i="0" sz="1800" b="0">
                <a:solidFill>
                  <a:srgbClr val="111827"/>
                </a:solidFill>
                <a:latin typeface="Albert Sans"/>
              </a:rPr>
              <a:t>Fundamental Utility</a:t>
            </a:r>
          </a:p>
        </p:txBody>
      </p:sp>
      <p:sp>
        <p:nvSpPr>
          <p:cNvPr id="10" name="TextBox 9"/>
          <p:cNvSpPr txBox="1"/>
          <p:nvPr/>
        </p:nvSpPr>
        <p:spPr>
          <a:xfrm>
            <a:off x="6251376" y="1805880"/>
            <a:ext cx="5883324"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800" b="0">
                <a:solidFill>
                  <a:srgbClr val="111827"/>
                </a:solidFill>
                <a:latin typeface="Albert Sans"/>
              </a:defRPr>
            </a:pPr>
            <a:r>
              <a:rPr i="0" sz="1800" b="0">
                <a:solidFill>
                  <a:srgbClr val="111827"/>
                </a:solidFill>
                <a:latin typeface="Albert Sans"/>
              </a:rPr>
              <a:t>Recognized Challenges</a:t>
            </a:r>
          </a:p>
        </p:txBody>
      </p:sp>
      <p:sp>
        <p:nvSpPr>
          <p:cNvPr id="11" name="TextBox 10"/>
          <p:cNvSpPr txBox="1"/>
          <p:nvPr/>
        </p:nvSpPr>
        <p:spPr>
          <a:xfrm>
            <a:off x="6251376" y="3040260"/>
            <a:ext cx="5883324"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800" b="0">
                <a:solidFill>
                  <a:srgbClr val="111827"/>
                </a:solidFill>
                <a:latin typeface="Albert Sans"/>
              </a:defRPr>
            </a:pPr>
            <a:r>
              <a:rPr i="0" sz="1800" b="0">
                <a:solidFill>
                  <a:srgbClr val="111827"/>
                </a:solidFill>
                <a:latin typeface="Albert Sans"/>
              </a:rPr>
              <a:t>Path Forward</a:t>
            </a:r>
          </a:p>
        </p:txBody>
      </p:sp>
      <p:sp>
        <p:nvSpPr>
          <p:cNvPr id="12" name="TextBox 11"/>
          <p:cNvSpPr txBox="1"/>
          <p:nvPr/>
        </p:nvSpPr>
        <p:spPr>
          <a:xfrm>
            <a:off x="6251376" y="4274641"/>
            <a:ext cx="5883324" cy="342900"/>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800" b="0">
                <a:solidFill>
                  <a:srgbClr val="111827"/>
                </a:solidFill>
                <a:latin typeface="Albert Sans"/>
              </a:defRPr>
            </a:pPr>
            <a:r>
              <a:rPr i="0" sz="1800" b="0">
                <a:solidFill>
                  <a:srgbClr val="111827"/>
                </a:solidFill>
                <a:latin typeface="Albert Sans"/>
              </a:rPr>
              <a:t>Shared Responsibility</a:t>
            </a:r>
          </a:p>
        </p:txBody>
      </p:sp>
      <p:sp>
        <p:nvSpPr>
          <p:cNvPr id="13" name="TextBox 12"/>
          <p:cNvSpPr txBox="1"/>
          <p:nvPr/>
        </p:nvSpPr>
        <p:spPr>
          <a:xfrm>
            <a:off x="457200" y="6353175"/>
            <a:ext cx="1714202" cy="200025"/>
          </a:xfrm>
          <a:prstGeom prst="rect">
            <a:avLst/>
          </a:prstGeom>
          <a:noFill/>
          <a:ln>
            <a:noFill/>
          </a:ln>
          <a:effectLst>
            <a:outerShdw blurRad="0" dist="0" dir="0">
              <a:srgbClr val="000000">
                <a:alpha val="0"/>
              </a:srgbClr>
            </a:outerShdw>
          </a:effectLst>
        </p:spPr>
        <p:txBody>
          <a:bodyPr wrap="square" lIns="0" rIns="0" tIns="0" bIns="0">
            <a:spAutoFit/>
          </a:bodyPr>
          <a:lstStyle/>
          <a:p>
            <a:pPr>
              <a:lnSpc>
                <a:spcPct val="120000"/>
              </a:lnSpc>
              <a:defRPr i="0" sz="1050" b="0">
                <a:solidFill>
                  <a:srgbClr val="6B7280"/>
                </a:solidFill>
                <a:latin typeface="Albert Sans"/>
              </a:defRPr>
            </a:pPr>
            <a:r>
              <a:rPr i="0" sz="1050" b="0">
                <a:solidFill>
                  <a:srgbClr val="6B7280"/>
                </a:solidFill>
                <a:latin typeface="Albert Sans"/>
              </a:rPr>
              <a:t>Education Balance Initiative</a:t>
            </a:r>
          </a:p>
        </p:txBody>
      </p:sp>
      <p:sp>
        <p:nvSpPr>
          <p:cNvPr id="14" name="Rounded Rectangle 13"/>
          <p:cNvSpPr/>
          <p:nvPr/>
        </p:nvSpPr>
        <p:spPr>
          <a:xfrm rot="2700000">
            <a:off x="11595473" y="6223373"/>
            <a:ext cx="431052" cy="431052"/>
          </a:xfrm>
          <a:prstGeom prst="roundRect">
            <a:avLst>
              <a:gd name="adj" fmla="val 4419"/>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5" name="Rounded Rectangle 14"/>
          <p:cNvSpPr/>
          <p:nvPr/>
        </p:nvSpPr>
        <p:spPr>
          <a:xfrm>
            <a:off x="2380952" y="6443662"/>
            <a:ext cx="9353847" cy="19050"/>
          </a:xfrm>
          <a:prstGeom prst="roundRect">
            <a:avLst>
              <a:gd name="adj" fmla="val 100000"/>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
        <p:nvSpPr>
          <p:cNvPr id="16" name="Rectangle 15"/>
          <p:cNvSpPr/>
          <p:nvPr/>
        </p:nvSpPr>
        <p:spPr>
          <a:xfrm rot="2700000">
            <a:off x="433527" y="204927"/>
            <a:ext cx="161644" cy="161645"/>
          </a:xfrm>
          <a:prstGeom prst="rect">
            <a:avLst/>
          </a:prstGeom>
          <a:solidFill>
            <a:srgbClr val="111827"/>
          </a:solidFill>
          <a:ln>
            <a:noFill/>
          </a:ln>
          <a:effectLst>
            <a:outerShdw blurRad="0" dist="0" dir="0">
              <a:srgbClr val="000000">
                <a:alpha val="0"/>
              </a:srgbClr>
            </a:outerShdw>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